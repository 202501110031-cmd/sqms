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core promise: patients should not have to sit and guess. SQMS gives them a live token, a position, an ETA and alerts in their language, while giving staff a shared operational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around uncertainty rather than raw waiting time. Then describe the operational cost of manual priority and fragmented queues, and the management gap caused by missing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solution as four connected capabilities, not a list of screens. Emphasise that patient convenience and staff control are powered by the same queue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five-step patient journey. Point out that the patient does not need to create an account, and that check-in is available both through the patient link and the front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priority tiers and the FIFO tie-breaker. Then show that the ETA is not a static slot value: it is derived from the active patient's remaining time, queue length, doctor average and current pause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each role at the level of outcomes, not every button. Stress that permissions are enforced server-side, so hiding a UI control is not the only safeguard.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visual proof point. Point to the no-login booking form and the token tracking screen. Mention that the same tracking link is included in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current-patient panel and the recalculated queue beneath it. The important point is that every action feeds alerts, analytics and ETA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front desk closes the loop between booking and consultation. Search by ticket code is a key operational shortcut during busy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display board is not just a TV screen: it is a shared communication surface. It refreshes periodically and also listens for live queue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the analytics surface moves from a daily operational check to a weekly and monthly management review. Mention CSV export for reporting and the notification outbox for communication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language as part of access, not decoration. The same event produces an English, Marathi or Hindi message, and the delivery layer can use SMS, in-app and voice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architecture explanation compact. The key design choice is that all queue rules live in the API, while React and the display board are clients of the same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build confidence in the implementation. Mention that the automated checks were run against the real API and the built UI, not just a static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handoff. The audience can start the app, sign in with different roles and reset the database without manual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product vision: SQMS starts with queue transparency, then becomes an operational platform. Invite questions and offer the demo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-2468880"/>
            <a:ext cx="5943600" cy="5943600"/>
          </a:xfrm>
          <a:prstGeom prst="ellipse">
            <a:avLst/>
          </a:prstGeom>
          <a:solidFill>
            <a:srgbClr val="0D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0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228600"/>
            <a:ext cx="2011680" cy="201168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1417320"/>
            <a:ext cx="502920" cy="502920"/>
          </a:xfrm>
          <a:prstGeom prst="ellipse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0" y="544068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77724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65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777240"/>
            <a:ext cx="1911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F2E6"/>
                </a:solidFill>
                <a:latin typeface="Segoe UI"/>
              </a:rPr>
              <a:t>HOSPITAL QUEUE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298448"/>
            <a:ext cx="658368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FFFFFF"/>
                </a:solidFill>
                <a:latin typeface="Segoe UI"/>
              </a:rPr>
              <a:t>Queue less.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FFFFFF"/>
                </a:solidFill>
                <a:latin typeface="Segoe UI"/>
              </a:rPr>
              <a:t>Care more.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46120"/>
            <a:ext cx="6172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DD8D5"/>
                </a:solidFill>
                <a:latin typeface="Segoe UI"/>
              </a:rPr>
              <a:t>SQMS turns hospital waiting rooms into a live, fair, multilingual queue experience - from booking to consultation.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53128"/>
            <a:ext cx="868680" cy="41148"/>
          </a:xfrm>
          <a:prstGeom prst="rect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466344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8F2E6"/>
                </a:solidFill>
                <a:latin typeface="Segoe UI"/>
              </a:rPr>
              <a:t>SMART QUEUE TIME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50474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FAC"/>
                </a:solidFill>
                <a:latin typeface="Segoe UI"/>
              </a:rPr>
              <a:t>Project presentation  / 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96128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5596128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E8E4"/>
                </a:solidFill>
                <a:latin typeface="Segoe UI"/>
              </a:rPr>
              <a:t>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596128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5596128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E8E4"/>
                </a:solidFill>
                <a:latin typeface="Segoe UI"/>
              </a:rPr>
              <a:t>EXPRESS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5596128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5596128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E8E4"/>
                </a:solidFill>
                <a:latin typeface="Segoe UI"/>
              </a:rPr>
              <a:t>SOCKET.IO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596128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4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2" y="5596128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9E8E4"/>
                </a:solidFill>
                <a:latin typeface="Segoe UI"/>
              </a:rPr>
              <a:t>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517904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B0CFCB"/>
                </a:solidFill>
                <a:latin typeface="Segoe UI"/>
              </a:rPr>
              <a:t>LIVE QUEUE  /  GENERAL MEDICINE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856231"/>
            <a:ext cx="3749039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8431" y="2084831"/>
            <a:ext cx="109728" cy="109728"/>
          </a:xfrm>
          <a:prstGeom prst="ellipse">
            <a:avLst/>
          </a:prstGeom>
          <a:solidFill>
            <a:srgbClr val="16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02996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0777A"/>
                </a:solidFill>
                <a:latin typeface="Segoe UI"/>
              </a:rPr>
              <a:t>NOW SERVING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3317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2A2D"/>
                </a:solidFill>
                <a:latin typeface="Segoe UI"/>
              </a:rPr>
              <a:t>GEN-005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277977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0777A"/>
                </a:solidFill>
                <a:latin typeface="Segoe UI"/>
              </a:rPr>
              <a:t>Dr. Rohan Patil  ·  Room 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203911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67A3D"/>
                </a:solidFill>
                <a:latin typeface="Segoe UI"/>
              </a:rPr>
              <a:t>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538728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134E4A"/>
          </a:solidFill>
          <a:ln w="10160">
            <a:solidFill>
              <a:srgbClr val="2F7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69417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C8F2E6"/>
                </a:solidFill>
                <a:latin typeface="Segoe UI"/>
              </a:rPr>
              <a:t>UP 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941063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GEN-006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32511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DC3BF"/>
                </a:solidFill>
                <a:latin typeface="Segoe UI"/>
              </a:rPr>
              <a:t>General  ·  priority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3538728"/>
            <a:ext cx="1783080" cy="1078992"/>
          </a:xfrm>
          <a:prstGeom prst="roundRect">
            <a:avLst>
              <a:gd name="adj" fmla="val 10000"/>
            </a:avLst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69417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0B5C56"/>
                </a:solidFill>
                <a:latin typeface="Segoe UI"/>
              </a:rPr>
              <a:t>EST. WAIT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92277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83D3A"/>
                </a:solidFill>
                <a:latin typeface="Segoe UI"/>
              </a:rPr>
              <a:t>12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3342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0B5C56"/>
                </a:solidFill>
                <a:latin typeface="Segoe UI"/>
              </a:rPr>
              <a:t>updates in real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4873752"/>
            <a:ext cx="3749039" cy="630936"/>
          </a:xfrm>
          <a:prstGeom prst="roundRect">
            <a:avLst>
              <a:gd name="adj" fmla="val 18000"/>
            </a:avLst>
          </a:prstGeom>
          <a:solidFill>
            <a:srgbClr val="144E4A"/>
          </a:solidFill>
          <a:ln w="10160">
            <a:solidFill>
              <a:srgbClr val="2F7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5020056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No patient login. Just a tracking code.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23036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A9C9C5"/>
                </a:solidFill>
                <a:latin typeface="Segoe UI"/>
              </a:rPr>
              <a:t>Track position, ETA and alerts from any phone.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Waiting is not the problem. Uncertainty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Hospitals already manage queues. The gap is information, fairness and coordination.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487168" cy="25786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D8D5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877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2D"/>
                </a:solidFill>
                <a:latin typeface="Segoe UI"/>
              </a:rPr>
              <a:t>Waiting blind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154680"/>
            <a:ext cx="20299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0777A"/>
                </a:solidFill>
                <a:latin typeface="Segoe UI"/>
              </a:rPr>
              <a:t>Patients do not know their position, expected wait or whether the doctor is running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74519"/>
            <a:ext cx="2487168" cy="25786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057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D8D5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5877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2D"/>
                </a:solidFill>
                <a:latin typeface="Segoe UI"/>
              </a:rPr>
              <a:t>Manual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154680"/>
            <a:ext cx="20299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0777A"/>
                </a:solidFill>
                <a:latin typeface="Segoe UI"/>
              </a:rPr>
              <a:t>Emergency and vulnerable patients are often prioritised verbally, without a consistent audit trail.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74519"/>
            <a:ext cx="2487168" cy="25786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057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D8D5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5877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2D"/>
                </a:solidFill>
                <a:latin typeface="Segoe UI"/>
              </a:rPr>
              <a:t>Fragmented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154680"/>
            <a:ext cx="20299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0777A"/>
                </a:solidFill>
                <a:latin typeface="Segoe UI"/>
              </a:rPr>
              <a:t>Reception, nursing and doctors work from separate lists, paper tokens or ad-hoc messaging.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874519"/>
            <a:ext cx="2487168" cy="25786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2057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D8D5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58775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2D"/>
                </a:solidFill>
                <a:latin typeface="Segoe UI"/>
              </a:rPr>
              <a:t>No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3154680"/>
            <a:ext cx="20299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0777A"/>
                </a:solidFill>
                <a:latin typeface="Segoe UI"/>
              </a:rPr>
              <a:t>Managers can see activity, but not trends, bottlenecks, no-shows or service performance.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01184"/>
            <a:ext cx="10890504" cy="914400"/>
          </a:xfrm>
          <a:prstGeom prst="roundRect">
            <a:avLst>
              <a:gd name="adj" fmla="val 12000"/>
            </a:avLst>
          </a:prstGeom>
          <a:solidFill>
            <a:srgbClr val="10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901184"/>
            <a:ext cx="91440" cy="914400"/>
          </a:xfrm>
          <a:prstGeom prst="rect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102352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Patients do not need to be first. They need to know when - and staff need one reliable queue to act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One connected queue, from token to consultation.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SQMS combines patient self-service, live queue intelligence, role-based controls and operational analytics.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4297680" cy="4005072"/>
          </a:xfrm>
          <a:prstGeom prst="roundRect">
            <a:avLst>
              <a:gd name="adj" fmla="val 8000"/>
            </a:avLst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84831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F2E6"/>
                </a:solidFill>
                <a:latin typeface="Segoe UI"/>
              </a:rP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50592"/>
            <a:ext cx="37033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From a room full of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uncertainty to a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single source of truth.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78224"/>
            <a:ext cx="100584" cy="100584"/>
          </a:xfrm>
          <a:prstGeom prst="ellipse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2336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EAE7"/>
                </a:solidFill>
                <a:latin typeface="Segoe UI"/>
              </a:rPr>
              <a:t>No patient account required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43984"/>
            <a:ext cx="100584" cy="100584"/>
          </a:xfrm>
          <a:prstGeom prst="ellipse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8912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EAE7"/>
                </a:solidFill>
                <a:latin typeface="Segoe UI"/>
              </a:rPr>
              <a:t>Priority is visible and consistent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09744"/>
            <a:ext cx="100584" cy="100584"/>
          </a:xfrm>
          <a:prstGeom prst="ellipse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5488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EAE7"/>
                </a:solidFill>
                <a:latin typeface="Segoe UI"/>
              </a:rPr>
              <a:t>Every role sees the same live state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175504"/>
            <a:ext cx="100584" cy="100584"/>
          </a:xfrm>
          <a:prstGeom prst="ellipse">
            <a:avLst/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120640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EAE7"/>
                </a:solidFill>
                <a:latin typeface="Segoe UI"/>
              </a:rPr>
              <a:t>Every action is measurable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1828800"/>
            <a:ext cx="2907792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0368" y="1828800"/>
            <a:ext cx="82296" cy="1856231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2029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2487168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Book without 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871215"/>
            <a:ext cx="24140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0777A"/>
                </a:solidFill>
                <a:latin typeface="Segoe UI"/>
              </a:rPr>
              <a:t>Same-day walk-in tokens or appointments up to 30 days ahead.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2907792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828800"/>
            <a:ext cx="82296" cy="1856231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029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487168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Follow live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871215"/>
            <a:ext cx="24140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0777A"/>
                </a:solidFill>
                <a:latin typeface="Segoe UI"/>
              </a:rPr>
              <a:t>Token status, people ahead, predicted wait and estimated consultation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0368" y="3886200"/>
            <a:ext cx="2907792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30368" y="3886200"/>
            <a:ext cx="82296" cy="1856231"/>
          </a:xfrm>
          <a:prstGeom prst="rect">
            <a:avLst/>
          </a:prstGeom>
          <a:solidFill>
            <a:srgbClr val="B46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4087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46A04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4544568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Run the clinic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4928616"/>
            <a:ext cx="24140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0777A"/>
                </a:solidFill>
                <a:latin typeface="Segoe UI"/>
              </a:rPr>
              <a:t>Doctor controls, front-desk check-in, triage, pause and recall workflows.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886200"/>
            <a:ext cx="2907792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886200"/>
            <a:ext cx="82296" cy="1856231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087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544568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Reach every patient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928616"/>
            <a:ext cx="24140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0777A"/>
                </a:solidFill>
                <a:latin typeface="Segoe UI"/>
              </a:rPr>
              <a:t>English, Hindi and Marathi alerts through SMS, in-app and voice.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A clear path with no account and no guesswork.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A patient can take a token in under a minute, then track it from any browser.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97864" y="2121408"/>
            <a:ext cx="9793224" cy="0"/>
          </a:xfrm>
          <a:prstGeom prst="line">
            <a:avLst/>
          </a:prstGeom>
          <a:ln w="38100">
            <a:solidFill>
              <a:srgbClr val="C8F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23544" y="1801368"/>
            <a:ext cx="640080" cy="6400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874519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706624"/>
            <a:ext cx="2048256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889504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Book or walk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310128"/>
            <a:ext cx="1719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0777A"/>
                </a:solidFill>
                <a:latin typeface="Segoe UI"/>
              </a:rPr>
              <a:t>Choose department, doctor, priority and language.</a:t>
            </a:r>
          </a:p>
        </p:txBody>
      </p:sp>
      <p:sp>
        <p:nvSpPr>
          <p:cNvPr id="15" name="Oval 14"/>
          <p:cNvSpPr/>
          <p:nvPr/>
        </p:nvSpPr>
        <p:spPr>
          <a:xfrm>
            <a:off x="3172968" y="1801368"/>
            <a:ext cx="640080" cy="6400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874519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2706624"/>
            <a:ext cx="2048256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2889504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Get a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310128"/>
            <a:ext cx="1719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0777A"/>
                </a:solidFill>
                <a:latin typeface="Segoe UI"/>
              </a:rPr>
              <a:t>Receive a code such as GEN-261029-006.</a:t>
            </a:r>
          </a:p>
        </p:txBody>
      </p:sp>
      <p:sp>
        <p:nvSpPr>
          <p:cNvPr id="20" name="Oval 19"/>
          <p:cNvSpPr/>
          <p:nvPr/>
        </p:nvSpPr>
        <p:spPr>
          <a:xfrm>
            <a:off x="5422392" y="1801368"/>
            <a:ext cx="640080" cy="6400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1874519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2706624"/>
            <a:ext cx="2048256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2889504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Track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310128"/>
            <a:ext cx="1719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0777A"/>
                </a:solidFill>
                <a:latin typeface="Segoe UI"/>
              </a:rPr>
              <a:t>See position, people ahead and a rolling ETA.</a:t>
            </a:r>
          </a:p>
        </p:txBody>
      </p:sp>
      <p:sp>
        <p:nvSpPr>
          <p:cNvPr id="25" name="Oval 24"/>
          <p:cNvSpPr/>
          <p:nvPr/>
        </p:nvSpPr>
        <p:spPr>
          <a:xfrm>
            <a:off x="7671816" y="1801368"/>
            <a:ext cx="640080" cy="6400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1816" y="1874519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2706624"/>
            <a:ext cx="2048256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2889504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Check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3310128"/>
            <a:ext cx="1719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0777A"/>
                </a:solidFill>
                <a:latin typeface="Segoe UI"/>
              </a:rPr>
              <a:t>Self check-in for today's appointment, or arrive for a walk-in.</a:t>
            </a:r>
          </a:p>
        </p:txBody>
      </p:sp>
      <p:sp>
        <p:nvSpPr>
          <p:cNvPr id="30" name="Oval 29"/>
          <p:cNvSpPr/>
          <p:nvPr/>
        </p:nvSpPr>
        <p:spPr>
          <a:xfrm>
            <a:off x="9921240" y="1801368"/>
            <a:ext cx="640080" cy="6400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1874519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8048" y="2706624"/>
            <a:ext cx="2048256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2889504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Consult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310128"/>
            <a:ext cx="17190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0777A"/>
                </a:solidFill>
                <a:latin typeface="Segoe UI"/>
              </a:rPr>
              <a:t>Called, started and completed through the doctor's queue.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974336"/>
            <a:ext cx="4846320" cy="932688"/>
          </a:xfrm>
          <a:prstGeom prst="roundRect">
            <a:avLst>
              <a:gd name="adj" fmla="val 11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1389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B5C56"/>
                </a:solidFill>
                <a:latin typeface="Segoe UI"/>
              </a:rPr>
              <a:t>EXAMPLE 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34009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83D3A"/>
                </a:solidFill>
                <a:latin typeface="Segoe UI"/>
              </a:rPr>
              <a:t>GEN-006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2669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B5C56"/>
                </a:solidFill>
                <a:latin typeface="Segoe UI"/>
              </a:rPr>
              <a:t>Position 3  ·  12 min wait  ·  Room 101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4974336"/>
            <a:ext cx="5852160" cy="93268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448" y="5138928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766E"/>
                </a:solidFill>
                <a:latin typeface="Segoe UI"/>
              </a:rPr>
              <a:t>WORKS ON ANY PHONE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5340096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A2D"/>
                </a:solidFill>
                <a:latin typeface="Segoe UI"/>
              </a:rPr>
              <a:t>The tracking link opens directly - no app install, no patient login.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QUEUE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Priority that is fair. Waiting time that is explainable.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The queue is re-ordered whenever the underlying state changes - not just when a screen refreshes.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766E"/>
                </a:solidFill>
                <a:latin typeface="Segoe UI"/>
              </a:rPr>
              <a:t>SERVICE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9893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82296" cy="987552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2286000"/>
            <a:ext cx="512064" cy="512064"/>
          </a:xfrm>
          <a:prstGeom prst="ellipse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5915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F1239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22199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Emergency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5603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777A"/>
                </a:solidFill>
                <a:latin typeface="Segoe UI"/>
              </a:rPr>
              <a:t>Immediate clinical need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2368296"/>
            <a:ext cx="868680" cy="283464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2368296"/>
            <a:ext cx="7223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F1239"/>
                </a:solidFill>
                <a:latin typeface="Segoe UI"/>
              </a:rPr>
              <a:t>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55264"/>
            <a:ext cx="59893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55264"/>
            <a:ext cx="82296" cy="9875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483864"/>
            <a:ext cx="512064" cy="512064"/>
          </a:xfrm>
          <a:prstGeom prst="ellipse">
            <a:avLst/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57016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41985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Senior · pregnant · differently 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758184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777A"/>
                </a:solidFill>
                <a:latin typeface="Segoe UI"/>
              </a:rPr>
              <a:t>Vulnerable-patient 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3566160"/>
            <a:ext cx="868680" cy="283464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2" y="3566160"/>
            <a:ext cx="7223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59E0B"/>
                </a:solidFill>
                <a:latin typeface="Segoe UI"/>
              </a:rPr>
              <a:t>SECOND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53128"/>
            <a:ext cx="59893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53128"/>
            <a:ext cx="82296" cy="9875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6968" y="4681728"/>
            <a:ext cx="512064" cy="512064"/>
          </a:xfrm>
          <a:prstGeom prst="ellipse">
            <a:avLst/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754880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6177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2D"/>
                </a:solidFill>
                <a:latin typeface="Segoe UI"/>
              </a:rPr>
              <a:t>General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495604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777A"/>
                </a:solidFill>
                <a:latin typeface="Segoe UI"/>
              </a:rPr>
              <a:t>Routine and follow-up visits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4764024"/>
            <a:ext cx="868680" cy="283464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13832" y="4764024"/>
            <a:ext cx="7223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766E"/>
                </a:solidFill>
                <a:latin typeface="Segoe UI"/>
              </a:rPr>
              <a:t>THIRD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96712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0777A"/>
                </a:solidFill>
                <a:latin typeface="Segoe UI"/>
              </a:rPr>
              <a:t>Tie-breaker: first come, first served within the same tier.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59168" y="1737360"/>
            <a:ext cx="4480560" cy="4224528"/>
          </a:xfrm>
          <a:prstGeom prst="roundRect">
            <a:avLst>
              <a:gd name="adj" fmla="val 8000"/>
            </a:avLst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199339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2E6"/>
                </a:solidFill>
                <a:latin typeface="Segoe UI"/>
              </a:rPr>
              <a:t>LIVE ETA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37744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Position and wait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recalculated in real time.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264408"/>
            <a:ext cx="3959352" cy="731520"/>
          </a:xfrm>
          <a:prstGeom prst="roundRect">
            <a:avLst>
              <a:gd name="adj" fmla="val 9000"/>
            </a:avLst>
          </a:prstGeom>
          <a:solidFill>
            <a:srgbClr val="134E4A"/>
          </a:solidFill>
          <a:ln w="10160">
            <a:solidFill>
              <a:srgbClr val="2E6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3410712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F2E6"/>
                </a:solidFill>
                <a:latin typeface="Segoe UI"/>
              </a:rPr>
              <a:t>ETA = remaining time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F2E6"/>
                </a:solidFill>
                <a:latin typeface="Segoe UI"/>
              </a:rPr>
              <a:t>+ patients ahead x doctor average</a:t>
            </a:r>
          </a:p>
        </p:txBody>
      </p:sp>
      <p:sp>
        <p:nvSpPr>
          <p:cNvPr id="40" name="Oval 39"/>
          <p:cNvSpPr/>
          <p:nvPr/>
        </p:nvSpPr>
        <p:spPr>
          <a:xfrm>
            <a:off x="7351775" y="427024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421538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E8E5"/>
                </a:solidFill>
                <a:latin typeface="Segoe UI"/>
              </a:rPr>
              <a:t>New check-in</a:t>
            </a:r>
          </a:p>
        </p:txBody>
      </p:sp>
      <p:sp>
        <p:nvSpPr>
          <p:cNvPr id="42" name="Oval 41"/>
          <p:cNvSpPr/>
          <p:nvPr/>
        </p:nvSpPr>
        <p:spPr>
          <a:xfrm>
            <a:off x="7351775" y="4617720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456285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E8E5"/>
                </a:solidFill>
                <a:latin typeface="Segoe UI"/>
              </a:rPr>
              <a:t>Priority change</a:t>
            </a:r>
          </a:p>
        </p:txBody>
      </p:sp>
      <p:sp>
        <p:nvSpPr>
          <p:cNvPr id="44" name="Oval 43"/>
          <p:cNvSpPr/>
          <p:nvPr/>
        </p:nvSpPr>
        <p:spPr>
          <a:xfrm>
            <a:off x="7351775" y="496519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491032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E8E5"/>
                </a:solidFill>
                <a:latin typeface="Segoe UI"/>
              </a:rPr>
              <a:t>Skip or recall</a:t>
            </a:r>
          </a:p>
        </p:txBody>
      </p:sp>
      <p:sp>
        <p:nvSpPr>
          <p:cNvPr id="46" name="Oval 45"/>
          <p:cNvSpPr/>
          <p:nvPr/>
        </p:nvSpPr>
        <p:spPr>
          <a:xfrm>
            <a:off x="7351775" y="531266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525780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E8E5"/>
                </a:solidFill>
                <a:latin typeface="Segoe UI"/>
              </a:rPr>
              <a:t>Pause or resume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555955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3B7B3"/>
                </a:solidFill>
                <a:latin typeface="Segoe UI"/>
              </a:rPr>
              <a:t>The same model powers patient tracking and the public display.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ROLE-BASED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Every role gets exactly the controls it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Permissions are enforced in the interface, the API and the audit trail.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47088"/>
            <a:ext cx="2542032" cy="382219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847088"/>
            <a:ext cx="2542032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2084831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84831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766E"/>
                </a:solidFill>
                <a:latin typeface="Segoe UI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146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Full oversight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" y="3072384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1752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Analytics &amp; exports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" y="3575303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20439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All queues &amp; controls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" y="4078224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2336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Staff/access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05663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8DA3A5"/>
                </a:solidFill>
                <a:latin typeface="Segoe UI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28523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766E"/>
                </a:solidFill>
                <a:latin typeface="Segoe UI"/>
              </a:rPr>
              <a:t>Hospital-wide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2424" y="1847088"/>
            <a:ext cx="2542032" cy="382219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2424" y="1847088"/>
            <a:ext cx="2542032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75304" y="2084831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8456" y="2084831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D4ED8"/>
                </a:solidFill>
                <a:latin typeface="Segoe UI"/>
              </a:rPr>
              <a:t>DOCTOR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25146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Own clinic flow</a:t>
            </a:r>
          </a:p>
        </p:txBody>
      </p:sp>
      <p:sp>
        <p:nvSpPr>
          <p:cNvPr id="27" name="Oval 26"/>
          <p:cNvSpPr/>
          <p:nvPr/>
        </p:nvSpPr>
        <p:spPr>
          <a:xfrm>
            <a:off x="3593592" y="3072384"/>
            <a:ext cx="91440" cy="9144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301752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Call next or specific</a:t>
            </a:r>
          </a:p>
        </p:txBody>
      </p:sp>
      <p:sp>
        <p:nvSpPr>
          <p:cNvPr id="29" name="Oval 28"/>
          <p:cNvSpPr/>
          <p:nvPr/>
        </p:nvSpPr>
        <p:spPr>
          <a:xfrm>
            <a:off x="3593592" y="3575303"/>
            <a:ext cx="91440" cy="9144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3904" y="3520439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Start / complete / skip</a:t>
            </a:r>
          </a:p>
        </p:txBody>
      </p:sp>
      <p:sp>
        <p:nvSpPr>
          <p:cNvPr id="31" name="Oval 30"/>
          <p:cNvSpPr/>
          <p:nvPr/>
        </p:nvSpPr>
        <p:spPr>
          <a:xfrm>
            <a:off x="3593592" y="4078224"/>
            <a:ext cx="91440" cy="9144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03904" y="402336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Pause, resume, 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505663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8DA3A5"/>
                </a:solidFill>
                <a:latin typeface="Segoe UI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5304" y="528523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ED8"/>
                </a:solidFill>
                <a:latin typeface="Segoe UI"/>
              </a:rPr>
              <a:t>Own patients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1847088"/>
            <a:ext cx="2542032" cy="382219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847088"/>
            <a:ext cx="2542032" cy="82296"/>
          </a:xfrm>
          <a:prstGeom prst="rect">
            <a:avLst/>
          </a:prstGeom>
          <a:solidFill>
            <a:srgbClr val="B46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5080" y="2084831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2084831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46A04"/>
                </a:solidFill>
                <a:latin typeface="Segoe UI"/>
              </a:rPr>
              <a:t>NURSE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5146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Front desk + triage</a:t>
            </a:r>
          </a:p>
        </p:txBody>
      </p:sp>
      <p:sp>
        <p:nvSpPr>
          <p:cNvPr id="40" name="Oval 39"/>
          <p:cNvSpPr/>
          <p:nvPr/>
        </p:nvSpPr>
        <p:spPr>
          <a:xfrm>
            <a:off x="6373368" y="3072384"/>
            <a:ext cx="91440" cy="91440"/>
          </a:xfrm>
          <a:prstGeom prst="ellipse">
            <a:avLst/>
          </a:prstGeom>
          <a:solidFill>
            <a:srgbClr val="B46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01752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Check-in &amp; booking</a:t>
            </a:r>
          </a:p>
        </p:txBody>
      </p:sp>
      <p:sp>
        <p:nvSpPr>
          <p:cNvPr id="42" name="Oval 41"/>
          <p:cNvSpPr/>
          <p:nvPr/>
        </p:nvSpPr>
        <p:spPr>
          <a:xfrm>
            <a:off x="6373368" y="3575303"/>
            <a:ext cx="91440" cy="91440"/>
          </a:xfrm>
          <a:prstGeom prst="ellipse">
            <a:avLst/>
          </a:prstGeom>
          <a:solidFill>
            <a:srgbClr val="B46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520439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Priority updates</a:t>
            </a:r>
          </a:p>
        </p:txBody>
      </p:sp>
      <p:sp>
        <p:nvSpPr>
          <p:cNvPr id="44" name="Oval 43"/>
          <p:cNvSpPr/>
          <p:nvPr/>
        </p:nvSpPr>
        <p:spPr>
          <a:xfrm>
            <a:off x="6373368" y="4078224"/>
            <a:ext cx="91440" cy="91440"/>
          </a:xfrm>
          <a:prstGeom prst="ellipse">
            <a:avLst/>
          </a:prstGeom>
          <a:solidFill>
            <a:srgbClr val="B46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02336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Patient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05663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8DA3A5"/>
                </a:solidFill>
                <a:latin typeface="Segoe UI"/>
              </a:rPr>
              <a:t>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28523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B46A04"/>
                </a:solidFill>
                <a:latin typeface="Segoe UI"/>
              </a:rPr>
              <a:t>Department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51976" y="1847088"/>
            <a:ext cx="2542032" cy="382219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51976" y="1847088"/>
            <a:ext cx="2542032" cy="822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34856" y="2084831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1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2084831"/>
            <a:ext cx="804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D28D9"/>
                </a:solidFill>
                <a:latin typeface="Segoe UI"/>
              </a:rPr>
              <a:t>RECEPTION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25146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A2D"/>
                </a:solidFill>
                <a:latin typeface="Segoe UI"/>
              </a:rPr>
              <a:t>Registration desk</a:t>
            </a:r>
          </a:p>
        </p:txBody>
      </p:sp>
      <p:sp>
        <p:nvSpPr>
          <p:cNvPr id="53" name="Oval 52"/>
          <p:cNvSpPr/>
          <p:nvPr/>
        </p:nvSpPr>
        <p:spPr>
          <a:xfrm>
            <a:off x="9153144" y="3072384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63456" y="301752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Book appointments</a:t>
            </a:r>
          </a:p>
        </p:txBody>
      </p:sp>
      <p:sp>
        <p:nvSpPr>
          <p:cNvPr id="55" name="Oval 54"/>
          <p:cNvSpPr/>
          <p:nvPr/>
        </p:nvSpPr>
        <p:spPr>
          <a:xfrm>
            <a:off x="9153144" y="3575303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63456" y="3520439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Check in &amp; cancel</a:t>
            </a:r>
          </a:p>
        </p:txBody>
      </p:sp>
      <p:sp>
        <p:nvSpPr>
          <p:cNvPr id="57" name="Oval 56"/>
          <p:cNvSpPr/>
          <p:nvPr/>
        </p:nvSpPr>
        <p:spPr>
          <a:xfrm>
            <a:off x="9153144" y="4078224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3456" y="402336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777A"/>
                </a:solidFill>
                <a:latin typeface="Segoe UI"/>
              </a:rPr>
              <a:t>Search and alert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4856" y="505663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8DA3A5"/>
                </a:solidFill>
                <a:latin typeface="Segoe UI"/>
              </a:rPr>
              <a:t>SCOPE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34856" y="5285232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D28D9"/>
                </a:solidFill>
                <a:latin typeface="Segoe UI"/>
              </a:rPr>
              <a:t>Department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648" y="5870448"/>
            <a:ext cx="10954512" cy="329184"/>
          </a:xfrm>
          <a:prstGeom prst="roundRect">
            <a:avLst>
              <a:gd name="adj" fmla="val 20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" y="5916168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C56"/>
                </a:solidFill>
                <a:latin typeface="Segoe UI"/>
              </a:rPr>
              <a:t>One live queue state  ·  consistent permissions  ·  auditable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PATIENT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Book in seconds. Track without an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A responsive public portal makes the queue visible before the patient enters the hospital.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72768"/>
            <a:ext cx="5440680" cy="3630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591056"/>
            <a:ext cx="5404104" cy="265176"/>
          </a:xfrm>
          <a:prstGeom prst="roundRect">
            <a:avLst>
              <a:gd name="adj" fmla="val 9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696212"/>
            <a:ext cx="59436" cy="59436"/>
          </a:xfrm>
          <a:prstGeom prst="ellipse">
            <a:avLst/>
          </a:prstGeom>
          <a:solidFill>
            <a:srgbClr val="F4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6212"/>
            <a:ext cx="59436" cy="59436"/>
          </a:xfrm>
          <a:prstGeom prst="ellipse">
            <a:avLst/>
          </a:prstGeom>
          <a:solidFill>
            <a:srgbClr val="F8C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1696212"/>
            <a:ext cx="59436" cy="59436"/>
          </a:xfrm>
          <a:prstGeom prst="ellipse">
            <a:avLst/>
          </a:prstGeom>
          <a:solidFill>
            <a:srgbClr val="74D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650492"/>
            <a:ext cx="4434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0777A"/>
                </a:solidFill>
                <a:latin typeface="Segoe UI"/>
              </a:rPr>
              <a:t>sqms.health  /  patient portal</a:t>
            </a:r>
          </a:p>
        </p:txBody>
      </p:sp>
      <p:pic>
        <p:nvPicPr>
          <p:cNvPr id="15" name="Picture 14" descr="home.png"/>
          <p:cNvPicPr>
            <a:picLocks noChangeAspect="1"/>
          </p:cNvPicPr>
          <p:nvPr/>
        </p:nvPicPr>
        <p:blipFill>
          <a:blip r:embed="rId2"/>
          <a:srcRect t="1256" b="1256"/>
          <a:stretch>
            <a:fillRect/>
          </a:stretch>
        </p:blipFill>
        <p:spPr>
          <a:xfrm>
            <a:off x="667512" y="1901952"/>
            <a:ext cx="5312664" cy="3236976"/>
          </a:xfrm>
          <a:prstGeom prst="rect">
            <a:avLst/>
          </a:prstGeom>
          <a:ln w="10160">
            <a:solidFill>
              <a:srgbClr val="DCE7E5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6153912" y="1572768"/>
            <a:ext cx="5440680" cy="3630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591056"/>
            <a:ext cx="5404104" cy="265176"/>
          </a:xfrm>
          <a:prstGeom prst="roundRect">
            <a:avLst>
              <a:gd name="adj" fmla="val 9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1696212"/>
            <a:ext cx="59436" cy="59436"/>
          </a:xfrm>
          <a:prstGeom prst="ellipse">
            <a:avLst/>
          </a:prstGeom>
          <a:solidFill>
            <a:srgbClr val="F4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1696212"/>
            <a:ext cx="59436" cy="59436"/>
          </a:xfrm>
          <a:prstGeom prst="ellipse">
            <a:avLst/>
          </a:prstGeom>
          <a:solidFill>
            <a:srgbClr val="F8C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1696212"/>
            <a:ext cx="59436" cy="59436"/>
          </a:xfrm>
          <a:prstGeom prst="ellipse">
            <a:avLst/>
          </a:prstGeom>
          <a:solidFill>
            <a:srgbClr val="74D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1650492"/>
            <a:ext cx="4434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0777A"/>
                </a:solidFill>
                <a:latin typeface="Segoe UI"/>
              </a:rPr>
              <a:t>sqms.health  /  track / GEN-...</a:t>
            </a:r>
          </a:p>
        </p:txBody>
      </p:sp>
      <p:pic>
        <p:nvPicPr>
          <p:cNvPr id="22" name="Picture 21" descr="track.png"/>
          <p:cNvPicPr>
            <a:picLocks noChangeAspect="1"/>
          </p:cNvPicPr>
          <p:nvPr/>
        </p:nvPicPr>
        <p:blipFill>
          <a:blip r:embed="rId3"/>
          <a:srcRect t="1256" b="1256"/>
          <a:stretch>
            <a:fillRect/>
          </a:stretch>
        </p:blipFill>
        <p:spPr>
          <a:xfrm>
            <a:off x="6217920" y="1901952"/>
            <a:ext cx="5312664" cy="3236976"/>
          </a:xfrm>
          <a:prstGeom prst="rect">
            <a:avLst/>
          </a:prstGeom>
          <a:ln w="10160">
            <a:solidFill>
              <a:srgbClr val="DCE7E5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21792" y="53675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Booking without 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650992"/>
            <a:ext cx="5212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0777A"/>
                </a:solidFill>
                <a:latin typeface="Segoe UI"/>
              </a:rPr>
              <a:t>Department, doctor, date, priority and language in one guided 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675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Confidence while waiting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650992"/>
            <a:ext cx="5212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0777A"/>
                </a:solidFill>
                <a:latin typeface="Segoe UI"/>
              </a:rPr>
              <a:t>Live token, people ahead, ETA, room, timeline and notification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DOCTOR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The entire clinic flow on one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Current patient, waiting queue, booked patients and served history update live.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72768"/>
            <a:ext cx="7818120" cy="4590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591056"/>
            <a:ext cx="7781544" cy="265176"/>
          </a:xfrm>
          <a:prstGeom prst="roundRect">
            <a:avLst>
              <a:gd name="adj" fmla="val 9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696212"/>
            <a:ext cx="59436" cy="59436"/>
          </a:xfrm>
          <a:prstGeom prst="ellipse">
            <a:avLst/>
          </a:prstGeom>
          <a:solidFill>
            <a:srgbClr val="F4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6212"/>
            <a:ext cx="59436" cy="59436"/>
          </a:xfrm>
          <a:prstGeom prst="ellipse">
            <a:avLst/>
          </a:prstGeom>
          <a:solidFill>
            <a:srgbClr val="F8C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1696212"/>
            <a:ext cx="59436" cy="59436"/>
          </a:xfrm>
          <a:prstGeom prst="ellipse">
            <a:avLst/>
          </a:prstGeom>
          <a:solidFill>
            <a:srgbClr val="74D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650492"/>
            <a:ext cx="6812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0777A"/>
                </a:solidFill>
                <a:latin typeface="Segoe UI"/>
              </a:rPr>
              <a:t>sqms.health  /  staff  /  queue</a:t>
            </a:r>
          </a:p>
        </p:txBody>
      </p:sp>
      <p:pic>
        <p:nvPicPr>
          <p:cNvPr id="15" name="Picture 14" descr="doctor-queue.png"/>
          <p:cNvPicPr>
            <a:picLocks noChangeAspect="1"/>
          </p:cNvPicPr>
          <p:nvPr/>
        </p:nvPicPr>
        <p:blipFill>
          <a:blip r:embed="rId2"/>
          <a:srcRect t="6338" b="6338"/>
          <a:stretch>
            <a:fillRect/>
          </a:stretch>
        </p:blipFill>
        <p:spPr>
          <a:xfrm>
            <a:off x="667512" y="1901952"/>
            <a:ext cx="7690104" cy="4197096"/>
          </a:xfrm>
          <a:prstGeom prst="rect">
            <a:avLst/>
          </a:prstGeom>
          <a:ln w="10160">
            <a:solidFill>
              <a:srgbClr val="DCE7E5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8641080" y="1572768"/>
            <a:ext cx="2880360" cy="4590288"/>
          </a:xfrm>
          <a:prstGeom prst="roundRect">
            <a:avLst>
              <a:gd name="adj" fmla="val 7000"/>
            </a:avLst>
          </a:prstGeom>
          <a:solidFill>
            <a:srgbClr val="10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81051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2E6"/>
                </a:solidFill>
                <a:latin typeface="Segoe UI"/>
              </a:rPr>
              <a:t>DOCTOR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Act on the queue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without leaving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the patient context.</a:t>
            </a:r>
          </a:p>
        </p:txBody>
      </p:sp>
      <p:sp>
        <p:nvSpPr>
          <p:cNvPr id="19" name="Oval 18"/>
          <p:cNvSpPr/>
          <p:nvPr/>
        </p:nvSpPr>
        <p:spPr>
          <a:xfrm>
            <a:off x="8869680" y="3392424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337560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Call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529584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FBCB8"/>
                </a:solidFill>
                <a:latin typeface="Segoe UI"/>
              </a:rPr>
              <a:t>Auto-selects the highest-priority waiting patient.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0" y="3904488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849624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Call specific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041648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FBCB8"/>
                </a:solidFill>
                <a:latin typeface="Segoe UI"/>
              </a:rPr>
              <a:t>Bring a particular token forward.</a:t>
            </a:r>
          </a:p>
        </p:txBody>
      </p:sp>
      <p:sp>
        <p:nvSpPr>
          <p:cNvPr id="25" name="Oval 24"/>
          <p:cNvSpPr/>
          <p:nvPr/>
        </p:nvSpPr>
        <p:spPr>
          <a:xfrm>
            <a:off x="8869680" y="441655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4361688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Start / 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553712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FBCB8"/>
                </a:solidFill>
                <a:latin typeface="Segoe UI"/>
              </a:rPr>
              <a:t>Maintain accurate consultation timing.</a:t>
            </a:r>
          </a:p>
        </p:txBody>
      </p:sp>
      <p:sp>
        <p:nvSpPr>
          <p:cNvPr id="28" name="Oval 27"/>
          <p:cNvSpPr/>
          <p:nvPr/>
        </p:nvSpPr>
        <p:spPr>
          <a:xfrm>
            <a:off x="8869680" y="4928616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4873752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Skip / 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5065776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FBCB8"/>
                </a:solidFill>
                <a:latin typeface="Segoe UI"/>
              </a:rPr>
              <a:t>Handle no-shows without losing the ticket.</a:t>
            </a:r>
          </a:p>
        </p:txBody>
      </p:sp>
      <p:sp>
        <p:nvSpPr>
          <p:cNvPr id="31" name="Oval 30"/>
          <p:cNvSpPr/>
          <p:nvPr/>
        </p:nvSpPr>
        <p:spPr>
          <a:xfrm>
            <a:off x="8869680" y="544068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5385816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Pause / resume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5577840"/>
            <a:ext cx="21579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9FBCB8"/>
                </a:solidFill>
                <a:latin typeface="Segoe UI"/>
              </a:rPr>
              <a:t>Communicate delays to everyone waiting.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FRONT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Registration, check-in and triage without lost tickets.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Reception and nursing share one operational view, with permissions that match their responsibilities.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72768"/>
            <a:ext cx="7818120" cy="4590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591056"/>
            <a:ext cx="7781544" cy="265176"/>
          </a:xfrm>
          <a:prstGeom prst="roundRect">
            <a:avLst>
              <a:gd name="adj" fmla="val 9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696212"/>
            <a:ext cx="59436" cy="59436"/>
          </a:xfrm>
          <a:prstGeom prst="ellipse">
            <a:avLst/>
          </a:prstGeom>
          <a:solidFill>
            <a:srgbClr val="F4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6212"/>
            <a:ext cx="59436" cy="59436"/>
          </a:xfrm>
          <a:prstGeom prst="ellipse">
            <a:avLst/>
          </a:prstGeom>
          <a:solidFill>
            <a:srgbClr val="F8C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1696212"/>
            <a:ext cx="59436" cy="59436"/>
          </a:xfrm>
          <a:prstGeom prst="ellipse">
            <a:avLst/>
          </a:prstGeom>
          <a:solidFill>
            <a:srgbClr val="74D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650492"/>
            <a:ext cx="6812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0777A"/>
                </a:solidFill>
                <a:latin typeface="Segoe UI"/>
              </a:rPr>
              <a:t>sqms.health  /  staff  /  frontdesk</a:t>
            </a:r>
          </a:p>
        </p:txBody>
      </p:sp>
      <p:pic>
        <p:nvPicPr>
          <p:cNvPr id="15" name="Picture 14" descr="frontdesk.png"/>
          <p:cNvPicPr>
            <a:picLocks noChangeAspect="1"/>
          </p:cNvPicPr>
          <p:nvPr/>
        </p:nvPicPr>
        <p:blipFill>
          <a:blip r:embed="rId2"/>
          <a:srcRect t="6338" b="6338"/>
          <a:stretch>
            <a:fillRect/>
          </a:stretch>
        </p:blipFill>
        <p:spPr>
          <a:xfrm>
            <a:off x="667512" y="1901952"/>
            <a:ext cx="7690104" cy="4197096"/>
          </a:xfrm>
          <a:prstGeom prst="rect">
            <a:avLst/>
          </a:prstGeom>
          <a:ln w="10160">
            <a:solidFill>
              <a:srgbClr val="DCE7E5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8641080" y="1572768"/>
            <a:ext cx="2880360" cy="2121408"/>
          </a:xfrm>
          <a:prstGeom prst="roundRect">
            <a:avLst>
              <a:gd name="adj" fmla="val 7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773936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F766E"/>
                </a:solidFill>
                <a:latin typeface="Segoe UI"/>
              </a:rPr>
              <a:t>ONE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84831"/>
            <a:ext cx="23317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83D3A"/>
                </a:solidFill>
                <a:latin typeface="Segoe UI"/>
              </a:rPr>
              <a:t>Find any patient by ticket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761488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60777A"/>
                </a:solidFill>
                <a:latin typeface="Segoe UI"/>
              </a:rPr>
              <a:t>Check in, update priority, send an alert or cancel - from the same result.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3831336"/>
            <a:ext cx="288036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404164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F766E"/>
                </a:solidFill>
                <a:latin typeface="Segoe UI"/>
              </a:rPr>
              <a:t>DESK CONTROLS</a:t>
            </a:r>
          </a:p>
        </p:txBody>
      </p:sp>
      <p:sp>
        <p:nvSpPr>
          <p:cNvPr id="22" name="Oval 21"/>
          <p:cNvSpPr/>
          <p:nvPr/>
        </p:nvSpPr>
        <p:spPr>
          <a:xfrm>
            <a:off x="8887968" y="442569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437083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0777A"/>
                </a:solidFill>
                <a:latin typeface="Segoe UI"/>
              </a:rPr>
              <a:t>Create walk-in or appointment tickets</a:t>
            </a:r>
          </a:p>
        </p:txBody>
      </p:sp>
      <p:sp>
        <p:nvSpPr>
          <p:cNvPr id="24" name="Oval 23"/>
          <p:cNvSpPr/>
          <p:nvPr/>
        </p:nvSpPr>
        <p:spPr>
          <a:xfrm>
            <a:off x="8887968" y="479145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4736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0777A"/>
                </a:solidFill>
                <a:latin typeface="Segoe UI"/>
              </a:rPr>
              <a:t>Self check-in support for patients</a:t>
            </a:r>
          </a:p>
        </p:txBody>
      </p:sp>
      <p:sp>
        <p:nvSpPr>
          <p:cNvPr id="26" name="Oval 25"/>
          <p:cNvSpPr/>
          <p:nvPr/>
        </p:nvSpPr>
        <p:spPr>
          <a:xfrm>
            <a:off x="8887968" y="515721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51023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0777A"/>
                </a:solidFill>
                <a:latin typeface="Segoe UI"/>
              </a:rPr>
              <a:t>Triage priority with audit history</a:t>
            </a:r>
          </a:p>
        </p:txBody>
      </p:sp>
      <p:sp>
        <p:nvSpPr>
          <p:cNvPr id="28" name="Oval 27"/>
          <p:cNvSpPr/>
          <p:nvPr/>
        </p:nvSpPr>
        <p:spPr>
          <a:xfrm>
            <a:off x="8887968" y="5522976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546811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60777A"/>
                </a:solidFill>
                <a:latin typeface="Segoe UI"/>
              </a:rPr>
              <a:t>Cancel bookings and send notices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PUBLIC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A waiting room that can see what is happening.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A full-screen, multilingual board keeps patients informed and reduces repeated desk queries.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72768"/>
            <a:ext cx="7818120" cy="4590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591056"/>
            <a:ext cx="7781544" cy="265176"/>
          </a:xfrm>
          <a:prstGeom prst="roundRect">
            <a:avLst>
              <a:gd name="adj" fmla="val 9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696212"/>
            <a:ext cx="59436" cy="59436"/>
          </a:xfrm>
          <a:prstGeom prst="ellipse">
            <a:avLst/>
          </a:prstGeom>
          <a:solidFill>
            <a:srgbClr val="F4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6212"/>
            <a:ext cx="59436" cy="59436"/>
          </a:xfrm>
          <a:prstGeom prst="ellipse">
            <a:avLst/>
          </a:prstGeom>
          <a:solidFill>
            <a:srgbClr val="F8C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1696212"/>
            <a:ext cx="59436" cy="59436"/>
          </a:xfrm>
          <a:prstGeom prst="ellipse">
            <a:avLst/>
          </a:prstGeom>
          <a:solidFill>
            <a:srgbClr val="74D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650492"/>
            <a:ext cx="6812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0777A"/>
                </a:solidFill>
                <a:latin typeface="Segoe UI"/>
              </a:rPr>
              <a:t>sqms.health  /  display</a:t>
            </a:r>
          </a:p>
        </p:txBody>
      </p:sp>
      <p:pic>
        <p:nvPicPr>
          <p:cNvPr id="15" name="Picture 14" descr="display.png"/>
          <p:cNvPicPr>
            <a:picLocks noChangeAspect="1"/>
          </p:cNvPicPr>
          <p:nvPr/>
        </p:nvPicPr>
        <p:blipFill>
          <a:blip r:embed="rId2"/>
          <a:srcRect t="6338" b="6338"/>
          <a:stretch>
            <a:fillRect/>
          </a:stretch>
        </p:blipFill>
        <p:spPr>
          <a:xfrm>
            <a:off x="667512" y="1901952"/>
            <a:ext cx="7690104" cy="4197096"/>
          </a:xfrm>
          <a:prstGeom prst="rect">
            <a:avLst/>
          </a:prstGeom>
          <a:ln w="10160">
            <a:solidFill>
              <a:srgbClr val="DCE7E5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8641080" y="1572768"/>
            <a:ext cx="2880360" cy="4553712"/>
          </a:xfrm>
          <a:prstGeom prst="roundRect">
            <a:avLst>
              <a:gd name="adj" fmla="val 7000"/>
            </a:avLst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8105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C8F2E6"/>
                </a:solidFill>
                <a:latin typeface="Segoe UI"/>
              </a:rPr>
              <a:t>MULTILINGUAL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One queue.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Three languages.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182112"/>
            <a:ext cx="2359152" cy="512064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325526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C8F2E6"/>
                </a:solidFill>
                <a:latin typeface="Segoe UI"/>
              </a:rPr>
              <a:t>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2461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irmala UI"/>
              </a:rPr>
              <a:t>English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840480"/>
            <a:ext cx="2359152" cy="512064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391363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C8F2E6"/>
                </a:solidFill>
                <a:latin typeface="Segoe UI"/>
              </a:rPr>
              <a:t>MARATHI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904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irmala UI"/>
              </a:rPr>
              <a:t>मराठी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498848"/>
            <a:ext cx="2359152" cy="512064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457200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C8F2E6"/>
                </a:solidFill>
                <a:latin typeface="Segoe UI"/>
              </a:rPr>
              <a:t>HINDI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56285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irmala UI"/>
              </a:rPr>
              <a:t>हिन्दी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23036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4C6C2"/>
                </a:solidFill>
                <a:latin typeface="Segoe UI"/>
              </a:rPr>
              <a:t>Auto-refresh + live socket updates keep the board current.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Turn daily operations into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Daily, weekly and monthly views expose demand, service performance and bottlenecks.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72768"/>
            <a:ext cx="7818120" cy="4590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591056"/>
            <a:ext cx="7781544" cy="265176"/>
          </a:xfrm>
          <a:prstGeom prst="roundRect">
            <a:avLst>
              <a:gd name="adj" fmla="val 9000"/>
            </a:avLst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696212"/>
            <a:ext cx="59436" cy="59436"/>
          </a:xfrm>
          <a:prstGeom prst="ellipse">
            <a:avLst/>
          </a:prstGeom>
          <a:solidFill>
            <a:srgbClr val="F4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696212"/>
            <a:ext cx="59436" cy="59436"/>
          </a:xfrm>
          <a:prstGeom prst="ellipse">
            <a:avLst/>
          </a:prstGeom>
          <a:solidFill>
            <a:srgbClr val="F8C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1696212"/>
            <a:ext cx="59436" cy="59436"/>
          </a:xfrm>
          <a:prstGeom prst="ellipse">
            <a:avLst/>
          </a:prstGeom>
          <a:solidFill>
            <a:srgbClr val="74D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1650492"/>
            <a:ext cx="6812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60777A"/>
                </a:solidFill>
                <a:latin typeface="Segoe UI"/>
              </a:rPr>
              <a:t>sqms.health  /  staff  /  analytics</a:t>
            </a:r>
          </a:p>
        </p:txBody>
      </p:sp>
      <p:pic>
        <p:nvPicPr>
          <p:cNvPr id="15" name="Picture 14" descr="analytics.png"/>
          <p:cNvPicPr>
            <a:picLocks noChangeAspect="1"/>
          </p:cNvPicPr>
          <p:nvPr/>
        </p:nvPicPr>
        <p:blipFill>
          <a:blip r:embed="rId2"/>
          <a:srcRect t="6338" b="6338"/>
          <a:stretch>
            <a:fillRect/>
          </a:stretch>
        </p:blipFill>
        <p:spPr>
          <a:xfrm>
            <a:off x="667512" y="1901952"/>
            <a:ext cx="7690104" cy="4197096"/>
          </a:xfrm>
          <a:prstGeom prst="rect">
            <a:avLst/>
          </a:prstGeom>
          <a:ln w="10160">
            <a:solidFill>
              <a:srgbClr val="DCE7E5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8641080" y="1572768"/>
            <a:ext cx="28803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1572768"/>
            <a:ext cx="73152" cy="8961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69164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Segoe UI"/>
              </a:rPr>
              <a:t>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6596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0777A"/>
                </a:solidFill>
                <a:latin typeface="Segoe UI"/>
              </a:rPr>
              <a:t>Today's flow, peak hours and priority mix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606039"/>
            <a:ext cx="28803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2606039"/>
            <a:ext cx="73152" cy="89611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724911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Weekly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999232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0777A"/>
                </a:solidFill>
                <a:latin typeface="Segoe UI"/>
              </a:rPr>
              <a:t>Seven-day demand and service trend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639311"/>
            <a:ext cx="28803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41080" y="3639311"/>
            <a:ext cx="73152" cy="89611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758183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D28D9"/>
                </a:solidFill>
                <a:latin typeface="Segoe UI"/>
              </a:rPr>
              <a:t>Monthly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032503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0777A"/>
                </a:solidFill>
                <a:latin typeface="Segoe UI"/>
              </a:rPr>
              <a:t>Department and doctor performance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4773168"/>
            <a:ext cx="2880360" cy="1389888"/>
          </a:xfrm>
          <a:prstGeom prst="roundRect">
            <a:avLst>
              <a:gd name="adj" fmla="val 8000"/>
            </a:avLst>
          </a:prstGeom>
          <a:solidFill>
            <a:srgbClr val="10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9651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ALSO INCLUDED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239512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Segoe UI"/>
              </a:rPr>
              <a:t>Department filters  ·  CSV export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Segoe UI"/>
              </a:rPr>
              <a:t>Audit log  ·  notification outbox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Alerts that reach people in their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Templates are generated from the same live queue state and delivered through multiple channels.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47088"/>
            <a:ext cx="345643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048256"/>
            <a:ext cx="822960" cy="265176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48256"/>
            <a:ext cx="6766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B5C56"/>
                </a:solidFill>
                <a:latin typeface="Segoe UI"/>
              </a:rPr>
              <a:t>ENGLISH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615184"/>
            <a:ext cx="274320" cy="274320"/>
          </a:xfrm>
          <a:prstGeom prst="ellipse">
            <a:avLst/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6090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487168"/>
            <a:ext cx="2578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A2D"/>
                </a:solidFill>
                <a:latin typeface="Segoe UI"/>
              </a:rPr>
              <a:t>Turn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0777A"/>
                </a:solidFill>
                <a:latin typeface="Segoe UI"/>
              </a:rPr>
              <a:t>Token GEN-006, please proceed to Room 101.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847088"/>
            <a:ext cx="345643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98847" y="2048256"/>
            <a:ext cx="822960" cy="265176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2048256"/>
            <a:ext cx="6766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B5C56"/>
                </a:solidFill>
                <a:latin typeface="Segoe UI"/>
              </a:rPr>
              <a:t>MARATHI</a:t>
            </a:r>
          </a:p>
        </p:txBody>
      </p:sp>
      <p:sp>
        <p:nvSpPr>
          <p:cNvPr id="19" name="Oval 18"/>
          <p:cNvSpPr/>
          <p:nvPr/>
        </p:nvSpPr>
        <p:spPr>
          <a:xfrm>
            <a:off x="4517136" y="2615184"/>
            <a:ext cx="274320" cy="274320"/>
          </a:xfrm>
          <a:prstGeom prst="ellipse">
            <a:avLst/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66090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1" y="2487168"/>
            <a:ext cx="2578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A2D"/>
                </a:solidFill>
                <a:latin typeface="Segoe UI"/>
              </a:rPr>
              <a:t>Turn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2971800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0777A"/>
                </a:solidFill>
                <a:latin typeface="Nirmala UI"/>
              </a:rPr>
              <a:t>टोकन GEN-006, कृपया खोली 101 मध्ये या.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7" y="1847088"/>
            <a:ext cx="345643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74736" y="2048256"/>
            <a:ext cx="822960" cy="265176"/>
          </a:xfrm>
          <a:prstGeom prst="roundRect">
            <a:avLst>
              <a:gd name="adj" fmla="val 50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048256"/>
            <a:ext cx="6766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B5C56"/>
                </a:solidFill>
                <a:latin typeface="Segoe UI"/>
              </a:rPr>
              <a:t>HINDI</a:t>
            </a:r>
          </a:p>
        </p:txBody>
      </p:sp>
      <p:sp>
        <p:nvSpPr>
          <p:cNvPr id="26" name="Oval 25"/>
          <p:cNvSpPr/>
          <p:nvPr/>
        </p:nvSpPr>
        <p:spPr>
          <a:xfrm>
            <a:off x="8193023" y="2615184"/>
            <a:ext cx="274320" cy="274320"/>
          </a:xfrm>
          <a:prstGeom prst="ellipse">
            <a:avLst/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3" y="266090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F766E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2487168"/>
            <a:ext cx="2578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A2D"/>
                </a:solidFill>
                <a:latin typeface="Segoe UI"/>
              </a:rPr>
              <a:t>Turn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971800"/>
            <a:ext cx="29992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0777A"/>
                </a:solidFill>
                <a:latin typeface="Nirmala UI"/>
              </a:rPr>
              <a:t>टोकन GEN-006, कृपया कमरा 101 में आएं.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16052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766E"/>
                </a:solidFill>
                <a:latin typeface="Segoe UI"/>
              </a:rPr>
              <a:t>DELIVERY CHANNELS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462272"/>
            <a:ext cx="3456432" cy="114300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63600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46A04"/>
                </a:solidFill>
                <a:latin typeface="Segoe UI"/>
              </a:rPr>
              <a:t>SMS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9377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777A"/>
                </a:solidFill>
                <a:latin typeface="Segoe UI"/>
              </a:rPr>
              <a:t>Twilio when configured; simulated and logged otherwise.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79" y="4462272"/>
            <a:ext cx="3456432" cy="1143000"/>
          </a:xfrm>
          <a:prstGeom prst="roundRect">
            <a:avLst>
              <a:gd name="adj" fmla="val 10000"/>
            </a:avLst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463600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4ED8"/>
                </a:solidFill>
                <a:latin typeface="Segoe UI"/>
              </a:rPr>
              <a:t>IN-APP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49377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777A"/>
                </a:solidFill>
                <a:latin typeface="Segoe UI"/>
              </a:rPr>
              <a:t>Persistent notification history inside the tracking page.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7" y="4462272"/>
            <a:ext cx="3456432" cy="1143000"/>
          </a:xfrm>
          <a:prstGeom prst="roundRect">
            <a:avLst>
              <a:gd name="adj" fmla="val 10000"/>
            </a:avLst>
          </a:prstGeom>
          <a:solidFill>
            <a:srgbClr val="F1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7" y="463600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28D9"/>
                </a:solidFill>
                <a:latin typeface="Segoe UI"/>
              </a:rPr>
              <a:t>VOICE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7" y="49377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0777A"/>
                </a:solidFill>
                <a:latin typeface="Segoe UI"/>
              </a:rPr>
              <a:t>Browser speech synthesis for waiting-room and device alerts.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852160"/>
            <a:ext cx="10899648" cy="310896"/>
          </a:xfrm>
          <a:prstGeom prst="roundRect">
            <a:avLst>
              <a:gd name="adj" fmla="val 20000"/>
            </a:avLst>
          </a:prstGeom>
          <a:solidFill>
            <a:srgbClr val="10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897880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Segoe UI"/>
              </a:rPr>
              <a:t>Templates: booked  ·  checked in  ·  your turn  ·  delay  ·  skipped  ·  resumed  ·  cancelled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A compact stack built for live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React handles the experience. Express owns the rules. Socket.IO keeps every screen in sync.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01952"/>
            <a:ext cx="10917936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2258568"/>
            <a:ext cx="2834640" cy="2139696"/>
          </a:xfrm>
          <a:prstGeom prst="roundRect">
            <a:avLst>
              <a:gd name="adj" fmla="val 8000"/>
            </a:avLst>
          </a:prstGeom>
          <a:solidFill>
            <a:srgbClr val="E6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45059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F766E"/>
                </a:solidFill>
                <a:latin typeface="Segoe UI"/>
              </a:rPr>
              <a:t>REACT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16352"/>
            <a:ext cx="23957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Patient portal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Display board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Staff workspaces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2258568"/>
            <a:ext cx="2834640" cy="2139696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45059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ED8"/>
                </a:solidFill>
                <a:latin typeface="Segoe UI"/>
              </a:rP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816352"/>
            <a:ext cx="23957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Auth + roles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Queue rules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Analytics +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258568"/>
            <a:ext cx="2834640" cy="2139696"/>
          </a:xfrm>
          <a:prstGeom prst="roundRect">
            <a:avLst>
              <a:gd name="adj" fmla="val 8000"/>
            </a:avLst>
          </a:prstGeom>
          <a:solidFill>
            <a:srgbClr val="F1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45059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D28D9"/>
                </a:solidFill>
                <a:latin typeface="Segoe UI"/>
              </a:rPr>
              <a:t>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816352"/>
            <a:ext cx="23957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Appointments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Doctors + state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2D"/>
                </a:solidFill>
                <a:latin typeface="Segoe UI"/>
              </a:rPr>
              <a:t>Audit + notifications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85615" y="3063240"/>
            <a:ext cx="658368" cy="329184"/>
          </a:xfrm>
          <a:prstGeom prst="rightArrow">
            <a:avLst/>
          </a:prstGeom>
          <a:solidFill>
            <a:srgbClr val="BF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351775" y="3063240"/>
            <a:ext cx="658368" cy="329184"/>
          </a:xfrm>
          <a:prstGeom prst="rightArrow">
            <a:avLst/>
          </a:prstGeom>
          <a:solidFill>
            <a:srgbClr val="BF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718304"/>
            <a:ext cx="10012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0777A"/>
                </a:solidFill>
                <a:latin typeface="Segoe UI"/>
              </a:rPr>
              <a:t>Socket.IO  /  REST  / 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595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766E"/>
                </a:solidFill>
                <a:latin typeface="Segoe UI"/>
              </a:rPr>
              <a:t>LIVE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55504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0777A"/>
                </a:solidFill>
                <a:latin typeface="Segoe UI"/>
              </a:rPr>
              <a:t>queue:changed  ·  board:changed  ·  alert:voice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55595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766E"/>
                </a:solidFill>
                <a:latin typeface="Segoe UI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55504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0777A"/>
                </a:solidFill>
                <a:latin typeface="Segoe UI"/>
              </a:rPr>
              <a:t>SMS via Twilio  ·  In-app outbox  ·  Speech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5" y="55595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0F766E"/>
                </a:solidFill>
                <a:latin typeface="Segoe UI"/>
              </a:rPr>
              <a:t>TRUST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39" y="55504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0777A"/>
                </a:solidFill>
                <a:latin typeface="Segoe UI"/>
              </a:rPr>
              <a:t>bcrypt passwords  ·  Role guards  ·  Audit log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TRUST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Small stack, serious safeguards.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The demo is not just visually complete: authentication, authorization, data integrity and runtime flows were validated.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61518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13898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F766E"/>
                </a:solidFill>
                <a:latin typeface="Segoe UI"/>
              </a:rPr>
              <a:t>JWT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95144"/>
            <a:ext cx="21762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0777A"/>
                </a:solidFill>
                <a:latin typeface="Segoe UI"/>
              </a:rPr>
              <a:t>Signed tokens with role and doctor scope; expired sessions are rejected.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828800"/>
            <a:ext cx="261518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144" y="1828800"/>
            <a:ext cx="73152" cy="138988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99339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D4ED8"/>
                </a:solidFill>
                <a:latin typeface="Segoe UI"/>
              </a:rPr>
              <a:t>ROLE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295144"/>
            <a:ext cx="21762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0777A"/>
                </a:solidFill>
                <a:latin typeface="Segoe UI"/>
              </a:rPr>
              <a:t>The same guards protect routes, queue actions and analytics endpoints.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01568"/>
            <a:ext cx="261518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01568"/>
            <a:ext cx="73152" cy="1389888"/>
          </a:xfrm>
          <a:prstGeom prst="rect">
            <a:avLst/>
          </a:prstGeom>
          <a:solidFill>
            <a:srgbClr val="B46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56616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B46A04"/>
                </a:solidFill>
                <a:latin typeface="Segoe UI"/>
              </a:rP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867911"/>
            <a:ext cx="21762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0777A"/>
                </a:solidFill>
                <a:latin typeface="Segoe UI"/>
              </a:rPr>
              <a:t>Booking, priority, call, skip, pause, alert and staff actions are recorded.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8144" y="3401568"/>
            <a:ext cx="2615184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8144" y="3401568"/>
            <a:ext cx="73152" cy="138988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56616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D28D9"/>
                </a:solidFill>
                <a:latin typeface="Segoe UI"/>
              </a:rPr>
              <a:t>DATA 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867911"/>
            <a:ext cx="217627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0777A"/>
                </a:solidFill>
                <a:latin typeface="Segoe UI"/>
              </a:rPr>
              <a:t>Foreign keys, WAL mode, transaction-safe state changes and validations.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28800"/>
            <a:ext cx="5138928" cy="3145536"/>
          </a:xfrm>
          <a:prstGeom prst="roundRect">
            <a:avLst>
              <a:gd name="adj" fmla="val 8000"/>
            </a:avLst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084831"/>
            <a:ext cx="4526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C8F2E6"/>
                </a:solidFill>
                <a:latin typeface="Segoe UI"/>
              </a:rPr>
              <a:t>VALIDATED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3957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Ready to demo.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127248"/>
            <a:ext cx="1280160" cy="1078992"/>
          </a:xfrm>
          <a:prstGeom prst="roundRect">
            <a:avLst>
              <a:gd name="adj" fmla="val 10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291840"/>
            <a:ext cx="10607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F2E6"/>
                </a:solidFill>
                <a:latin typeface="Segoe UI"/>
              </a:rPr>
              <a:t>29/29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721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A9C8C4"/>
                </a:solidFill>
                <a:latin typeface="Segoe UI"/>
              </a:rPr>
              <a:t>API checks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127248"/>
            <a:ext cx="1280160" cy="1078992"/>
          </a:xfrm>
          <a:prstGeom prst="roundRect">
            <a:avLst>
              <a:gd name="adj" fmla="val 10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291840"/>
            <a:ext cx="10607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F2E6"/>
                </a:solidFill>
                <a:latin typeface="Segoe UI"/>
              </a:rPr>
              <a:t>21/21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21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A9C8C4"/>
                </a:solidFill>
                <a:latin typeface="Segoe UI"/>
              </a:rPr>
              <a:t>Browser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47504" y="3127248"/>
            <a:ext cx="1280160" cy="1078992"/>
          </a:xfrm>
          <a:prstGeom prst="roundRect">
            <a:avLst>
              <a:gd name="adj" fmla="val 10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57232" y="3291840"/>
            <a:ext cx="10607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F2E6"/>
                </a:solidFill>
                <a:latin typeface="Segoe U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721608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A9C8C4"/>
                </a:solidFill>
                <a:latin typeface="Segoe UI"/>
              </a:rPr>
              <a:t>Audit vulnerabilities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425696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B9D4D0"/>
                </a:solidFill>
                <a:latin typeface="Segoe UI"/>
              </a:rPr>
              <a:t>Build passes, production server serves the SPA, and public + staff flows were exercised in headless Chrome.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248656"/>
            <a:ext cx="10899648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431536"/>
            <a:ext cx="10469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02A2D"/>
                </a:solidFill>
                <a:latin typeface="Segoe UI"/>
              </a:rPr>
              <a:t>Deployment note: replace demo credentials, set a strong JWT secret, use HTTPS and configure Twilio for real SMS delivery.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Segoe UI"/>
              </a:rPr>
              <a:t>RUN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6751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A2D"/>
                </a:solidFill>
                <a:latin typeface="Segoe UI"/>
              </a:rPr>
              <a:t>One command to start. Four roles to explore.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0777A"/>
                </a:solidFill>
                <a:latin typeface="Segoe UI"/>
              </a:rPr>
              <a:t>The database resets to a clean, seeded demo with live queues and 45 days of history.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DC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DA3A5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532120" cy="3017520"/>
          </a:xfrm>
          <a:prstGeom prst="roundRect">
            <a:avLst>
              <a:gd name="adj" fmla="val 8000"/>
            </a:avLst>
          </a:prstGeom>
          <a:solidFill>
            <a:srgbClr val="102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4825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4086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$ npm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5176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F2E6"/>
                </a:solidFill>
                <a:latin typeface="Segoe UI"/>
              </a:rPr>
              <a:t>$ npm run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CB8"/>
                </a:solidFill>
                <a:latin typeface="Segoe UI"/>
              </a:rPr>
              <a:t>Web    http://localhost:5173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5526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CB8"/>
                </a:solidFill>
                <a:latin typeface="Segoe UI"/>
              </a:rPr>
              <a:t>API    http://localhost:4000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39312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93192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$ npm run build &amp;&amp; npm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352544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CB8"/>
                </a:solidFill>
                <a:latin typeface="Segoe UI"/>
              </a:rPr>
              <a:t>Reset demo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FBCB8"/>
                </a:solidFill>
                <a:latin typeface="Segoe UI"/>
              </a:rPr>
              <a:t>npm run reset-db --workspace=@sqms/api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766E"/>
                </a:solidFill>
                <a:latin typeface="Segoe UI"/>
              </a:rPr>
              <a:t>DEMO ACCOUNTS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2"/>
            <a:ext cx="5532120" cy="1024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C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41324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0F766E"/>
                </a:solidFill>
                <a:latin typeface="Segoe UI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1324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0777A"/>
                </a:solidFill>
                <a:latin typeface="Segoe UI"/>
              </a:rPr>
              <a:t>admin@sqms.health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1" y="5413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DA3A5"/>
                </a:solidFill>
                <a:latin typeface="Segoe UI"/>
              </a:rPr>
              <a:t>admin123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541324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0F766E"/>
                </a:solidFill>
                <a:latin typeface="Segoe UI"/>
              </a:rPr>
              <a:t>Doctor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41324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0777A"/>
                </a:solidFill>
                <a:latin typeface="Segoe UI"/>
              </a:rPr>
              <a:t>cardio@sqms.health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541324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DA3A5"/>
                </a:solidFill>
                <a:latin typeface="Segoe UI"/>
              </a:rPr>
              <a:t>doctor123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80644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0F766E"/>
                </a:solidFill>
                <a:latin typeface="Segoe UI"/>
              </a:rPr>
              <a:t>Nurse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0644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0777A"/>
                </a:solidFill>
                <a:latin typeface="Segoe UI"/>
              </a:rPr>
              <a:t>nurse@sqms.health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1" y="58064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DA3A5"/>
                </a:solidFill>
                <a:latin typeface="Segoe UI"/>
              </a:rPr>
              <a:t>nurse123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580644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0F766E"/>
                </a:solidFill>
                <a:latin typeface="Segoe UI"/>
              </a:rPr>
              <a:t>Reception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580644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0777A"/>
                </a:solidFill>
                <a:latin typeface="Segoe UI"/>
              </a:rPr>
              <a:t>reception@sqms.health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272" y="58064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8DA3A5"/>
                </a:solidFill>
                <a:latin typeface="Segoe UI"/>
              </a:rPr>
              <a:t>reception123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828800"/>
            <a:ext cx="5138928" cy="4480560"/>
          </a:xfrm>
          <a:prstGeom prst="roundRect">
            <a:avLst>
              <a:gd name="adj" fmla="val 8000"/>
            </a:avLst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084831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C8F2E6"/>
                </a:solidFill>
                <a:latin typeface="Segoe UI"/>
              </a:rPr>
              <a:t>PUBLIC URLS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2487168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257860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Patient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560320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108960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32004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Token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182112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/track/:code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3730752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9712" y="382219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Display 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803904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/display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352544"/>
            <a:ext cx="4553712" cy="47548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444398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C8F2E6"/>
                </a:solidFill>
                <a:latin typeface="Segoe UI"/>
              </a:rPr>
              <a:t>Staff 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425696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/staff/login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138928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C8F2E6"/>
                </a:solidFill>
                <a:latin typeface="Segoe UI"/>
              </a:rPr>
              <a:t>SOURCE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431536"/>
            <a:ext cx="4526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Segoe UI"/>
              </a:rPr>
              <a:t>github.com/202501110031-cmd/sqms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17320" y="4206240"/>
            <a:ext cx="4114800" cy="4114800"/>
          </a:xfrm>
          <a:prstGeom prst="ellipse">
            <a:avLst/>
          </a:prstGeom>
          <a:solidFill>
            <a:srgbClr val="0D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D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3657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76656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8F2E6"/>
                </a:solidFill>
                <a:latin typeface="Segoe UI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2412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platform, not just a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29968"/>
            <a:ext cx="5669280" cy="84124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6712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2E6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30552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3E9E6"/>
                </a:solidFill>
                <a:latin typeface="Segoe UI"/>
              </a:rPr>
              <a:t>Live queue, booking, alerts, analytics and role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054096"/>
            <a:ext cx="5669280" cy="84124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9125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2E6"/>
                </a:solidFill>
                <a:latin typeface="Segoe U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154680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3E9E6"/>
                </a:solidFill>
                <a:latin typeface="Segoe UI"/>
              </a:rPr>
              <a:t>Postgres/cloud deployment, reminders, kiosk mode and multi-hospital tenancy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78224"/>
            <a:ext cx="5669280" cy="841248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 w="10160">
            <a:solidFill>
              <a:srgbClr val="2C6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153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2E6"/>
                </a:solidFill>
                <a:latin typeface="Segoe UI"/>
              </a:rP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178808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3E9E6"/>
                </a:solidFill>
                <a:latin typeface="Segoe UI"/>
              </a:rPr>
              <a:t>ML-based wait prediction, EHR integration and patient feedback loops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8F2E6"/>
                </a:solidFill>
                <a:latin typeface="Segoe UI"/>
              </a:rPr>
              <a:t>Better queues. Better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7900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C5C1"/>
                </a:solidFill>
                <a:latin typeface="Segoe UI"/>
              </a:rPr>
              <a:t>Thank you  / 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31152" y="1051560"/>
            <a:ext cx="4480560" cy="4251960"/>
          </a:xfrm>
          <a:prstGeom prst="roundRect">
            <a:avLst>
              <a:gd name="adj" fmla="val 8000"/>
            </a:avLst>
          </a:prstGeom>
          <a:solidFill>
            <a:srgbClr val="C8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35331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5C56"/>
                </a:solidFill>
                <a:latin typeface="Segoe UI"/>
              </a:rPr>
              <a:t>SQMS IN ONE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755648"/>
            <a:ext cx="376732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83D3A"/>
                </a:solidFill>
                <a:latin typeface="Segoe UI"/>
              </a:rPr>
              <a:t>A live, fair and multilingual queue that gives patients certainty and gives staff control.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4453128"/>
            <a:ext cx="9144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681728"/>
            <a:ext cx="3730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5C56"/>
                </a:solidFill>
                <a:latin typeface="Segoe UI"/>
              </a:rPr>
              <a:t>Patient portal  ·  staff workflows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B5C56"/>
                </a:solidFill>
                <a:latin typeface="Segoe UI"/>
              </a:rPr>
              <a:t>analytics  ·  alerts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28232"/>
            <a:ext cx="11000232" cy="0"/>
          </a:xfrm>
          <a:prstGeom prst="line">
            <a:avLst/>
          </a:prstGeom>
          <a:ln w="9525">
            <a:solidFill>
              <a:srgbClr val="2D4C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492240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A4A5"/>
                </a:solidFill>
                <a:latin typeface="Segoe UI"/>
              </a:rPr>
              <a:t>SQMS  /  Smart Queue Time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804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A4A5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SQMS - Smart Queue Time Management System</dc:title>
  <dc:subject>Hospital queue management project presentation</dc:subject>
  <dc:creator>SQMS Project</dc:creator>
  <cp:keywords>hospital, queue, healthcare, React, Express, SQLite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